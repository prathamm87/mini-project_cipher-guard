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13273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13273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13273F"/>
          </a:solidFill>
          <a:ln w="19050">
            <a:solidFill>
              <a:srgbClr val="2EC4B6"/>
            </a:solidFill>
            <a:prstDash val="solid"/>
          </a:ln>
        </p:spPr>
      </p:sp>
      <p:pic>
        <p:nvPicPr>
          <p:cNvPr id="5" name="Image 0" descr="icon_shield_2EC4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89611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" y="21488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Cipher Guard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Decryption of Messages using Classical Cryptographic Techniques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274320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572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Chavda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92400588043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9560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Pratham Shinde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023360" y="4956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92520588002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53400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Modi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023360" y="5340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92400588064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5897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Tirth Bhadeshiya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61996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Marwadi University — B.Sc. (Information Technology)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Encryption &amp; Decryption?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6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5" name="Image 0" descr="icon_lock_2EC4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Encryption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converting a readable message (plaintext) into an unreadable form (ciphertext) using a defined algorithm and key, so that unauthorized users cannot understand 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0D1B2A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92024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0" name="Image 1" descr="icon_unlock_0D1B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08483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Decryption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400800" y="292608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process of converting ciphertext back into the original readable plaintext, using the correct algorithm and key, so the intended recipient can read the message.</a:t>
            </a:r>
            <a:endParaRPr lang="en-US" sz="1400" dirty="0"/>
          </a:p>
        </p:txBody>
      </p:sp>
      <p:pic>
        <p:nvPicPr>
          <p:cNvPr id="13" name="Image 2" descr="icon_exchange_2EC4B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9893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Guard demonstrates both directions of this process using three classical cipher techniques.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Guard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Encryption Techniques Used in the 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Guard implements three classical cryptographic techniques, each demonstrating a different approach to securing a message.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4F6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520440" cy="109728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77440"/>
            <a:ext cx="822960" cy="822960"/>
          </a:xfrm>
          <a:prstGeom prst="ellipse">
            <a:avLst/>
          </a:prstGeom>
          <a:solidFill>
            <a:srgbClr val="415A77"/>
          </a:solidFill>
          <a:ln/>
        </p:spPr>
      </p:sp>
      <p:pic>
        <p:nvPicPr>
          <p:cNvPr id="7" name="Image 0" descr="icon_shif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5786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91840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0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Caesar Cipher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each letter forward or backward by a fixed number of positions (the key).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20116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4F6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2011680"/>
            <a:ext cx="3520440" cy="109728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2377440"/>
            <a:ext cx="822960" cy="822960"/>
          </a:xfrm>
          <a:prstGeom prst="ellipse">
            <a:avLst/>
          </a:prstGeom>
          <a:solidFill>
            <a:srgbClr val="415A77"/>
          </a:solidFill>
          <a:ln/>
        </p:spPr>
      </p:sp>
      <p:pic>
        <p:nvPicPr>
          <p:cNvPr id="14" name="Image 1" descr="icon_tab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57860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0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61772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Playfair Cipher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17720" y="388620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pairs of letters using a 5×5 matrix built from a keyword.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38160" y="201168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4F6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38160" y="2011680"/>
            <a:ext cx="3520440" cy="109728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20" name="Shape 16"/>
          <p:cNvSpPr/>
          <p:nvPr/>
        </p:nvSpPr>
        <p:spPr>
          <a:xfrm>
            <a:off x="8458200" y="2377440"/>
            <a:ext cx="822960" cy="822960"/>
          </a:xfrm>
          <a:prstGeom prst="ellipse">
            <a:avLst/>
          </a:prstGeom>
          <a:solidFill>
            <a:srgbClr val="415A77"/>
          </a:solidFill>
          <a:ln/>
        </p:spPr>
      </p:sp>
      <p:pic>
        <p:nvPicPr>
          <p:cNvPr id="21" name="Image 2" descr="icon_wav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578608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881360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0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41248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Rail Fence Cipher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412480" y="388620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letters in a zig-zag pattern across multiple rails, then reads them off row by row.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Guard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85800" cy="68580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3" name="Image 0" descr="icon_shift_2EC4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Caesar Cipher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4F6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0312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numeric key (shift value), e.g., 3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letter in the message, shift it forward in the alphabet by the key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Non-alphabet characters are left unchanged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around from Z back to A using modulo 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the ciphertext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0D1B2A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210312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numeric key that was used for encryption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letter in the ciphertext, shift it backward by the key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Non-alphabet characters are left unchanged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around from A back to Z using modulo 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the original plaintext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98348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AF7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9834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 </a:t>
            </a:r>
            <a:pPr indent="0" marL="0">
              <a:buNone/>
            </a:pPr>
            <a:r>
              <a:rPr lang="en-US" sz="1350" dirty="0">
                <a:solidFill>
                  <a:srgbClr val="0D3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 --(shift +3)--&gt;  KHOOR      KHOOR  --(shift -3)--&gt;  HELLO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Guard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85800" cy="68580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3" name="Image 0" descr="icon_table_2EC4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Playfair Cipher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4F6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0312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5×5 matrix from a keyword (I/J share a cell)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message into letter pairs (digraphs)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row → shift each letter one cell right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column → shift each letter one cell down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→ swap the two letters' columns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0D1B2A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210312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same 5×5 matrix using the shared key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ciphertext into letter pairs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row → shift each letter one cell left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column → shift each letter one cell up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→ swap the two letters' columns (same rule)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98348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AF7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9834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 </a:t>
            </a:r>
            <a:pPr indent="0" marL="0">
              <a:buNone/>
            </a:pPr>
            <a:r>
              <a:rPr lang="en-US" sz="1350" dirty="0">
                <a:solidFill>
                  <a:srgbClr val="0D3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MONARCHY   HE -&gt; same row -&gt; EC        EC -&gt; reverse rule -&gt; HE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Guard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85800" cy="68580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3" name="Image 0" descr="icon_wave_2EC4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Rail Fence Cipher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4F6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0312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number of rails (rows), e.g., 3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message in a zig-zag pattern across the rails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down the rails, then back up, repeating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letters off rail by rail, top to bottom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concatenated rails form the ciphertext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50876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0D1B2A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210312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number of rails as encryption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the zig-zag pattern positions for the message length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ciphertext letters into those positions, rail by rail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letters following the zig-zag path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the original plaintext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98348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AF7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9834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 </a:t>
            </a:r>
            <a:pPr indent="0" marL="0">
              <a:buNone/>
            </a:pPr>
            <a:r>
              <a:rPr lang="en-US" sz="1350" dirty="0">
                <a:solidFill>
                  <a:srgbClr val="0D3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Rails = 3   HELLO -&gt; zig-zag -&gt; HOEL L  (read by rail)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Guard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Cipher Guard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step-by-step workflow takes the user from message entry to encrypted (or decrypted) output.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4F6F7"/>
          </a:solidFill>
          <a:ln/>
        </p:spPr>
      </p:sp>
      <p:sp>
        <p:nvSpPr>
          <p:cNvPr id="5" name="Shape 3"/>
          <p:cNvSpPr/>
          <p:nvPr/>
        </p:nvSpPr>
        <p:spPr>
          <a:xfrm>
            <a:off x="1211580" y="25603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121158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Message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the plaintext (or ciphertext) into the tool.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14600" y="3200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3497580" y="25603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349758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26080" y="3337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Method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71800" y="38862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Caesar, Playfair, or Rail Fence Cipher.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200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20640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4F6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783580" y="25603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578358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12080" y="3337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Key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57800" y="38862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key, or use the provided default key.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86600" y="3200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06640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0D1B2A"/>
          </a:solidFill>
          <a:ln/>
        </p:spPr>
      </p:sp>
      <p:sp>
        <p:nvSpPr>
          <p:cNvPr id="23" name="Shape 21"/>
          <p:cNvSpPr/>
          <p:nvPr/>
        </p:nvSpPr>
        <p:spPr>
          <a:xfrm>
            <a:off x="8069580" y="25603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806958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98080" y="3337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/ Decrypt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43800" y="38862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algorithm processes the text step-by-step.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72600" y="32004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692640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4F6F7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55580" y="25603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0" name="Text 28"/>
          <p:cNvSpPr/>
          <p:nvPr/>
        </p:nvSpPr>
        <p:spPr>
          <a:xfrm>
            <a:off x="1035558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784080" y="33375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829800" y="38862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message and the steps performed are displayed.</a:t>
            </a:r>
            <a:endParaRPr lang="en-US" sz="1050" dirty="0"/>
          </a:p>
        </p:txBody>
      </p:sp>
      <p:pic>
        <p:nvPicPr>
          <p:cNvPr id="33" name="Image 0" descr="icon_flow_2EC4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212080"/>
            <a:ext cx="292608" cy="29260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960120" y="5166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 option resets the message, result, and steps; the Stop step ends the process when the user exits.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Guard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3931920"/>
            <a:ext cx="4114800" cy="4114800"/>
          </a:xfrm>
          <a:prstGeom prst="ellipse">
            <a:avLst/>
          </a:prstGeom>
          <a:solidFill>
            <a:srgbClr val="13273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3273F"/>
          </a:solidFill>
          <a:ln w="19050">
            <a:solidFill>
              <a:srgbClr val="2EC4B6"/>
            </a:solidFill>
            <a:prstDash val="solid"/>
          </a:ln>
        </p:spPr>
      </p:sp>
      <p:pic>
        <p:nvPicPr>
          <p:cNvPr id="4" name="Image 0" descr="icon_check_2EC4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67512"/>
            <a:ext cx="429768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029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10424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Guard successfully demonstrates the core principles of cryptography — converting readable messages into unreadable ciphertext and back again.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classical techniques — Caesar, Playfair, and Rail Fence Cipher — show different approaches to encryption: character shifting, matrix-based pairing, and pattern rearrangement.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builds a practical understanding of how encryption protects information and why decryption requires the correct method and key.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foundations form the basis for understanding modern, more advanced cryptographic systems used in real-world data security.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Guard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4F6F7"/>
          </a:solidFill>
          <a:ln/>
        </p:spPr>
      </p:sp>
      <p:sp>
        <p:nvSpPr>
          <p:cNvPr id="3" name="Shape 1"/>
          <p:cNvSpPr/>
          <p:nvPr/>
        </p:nvSpPr>
        <p:spPr>
          <a:xfrm>
            <a:off x="5184648" y="822960"/>
            <a:ext cx="914400" cy="91440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4" name="Image 0" descr="icon_users_2EC4B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33272"/>
            <a:ext cx="493776" cy="493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9202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2697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Guard — Message Encryption &amp; Decryption Tool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Chavda (92400588043)      |      Pratham Shinde (92520588002)      |      Sahil Modi (92400588064)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Tirth Bhadeshiya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0" y="45262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Marwadi University — B.Sc. (Information Technology)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Guard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2026-09-09T18:19:28Z</dcterms:created>
  <dcterms:modified xsi:type="dcterms:W3CDTF">2026-09-09T18:19:28Z</dcterms:modified>
</cp:coreProperties>
</file>